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Barlow Medium" panose="00000600000000000000" pitchFamily="2" charset="0"/>
      <p:regular r:id="rId17"/>
      <p:italic r:id="rId18"/>
    </p:embeddedFont>
    <p:embeddedFont>
      <p:font typeface="Barlow Medium Italics" panose="020B0604020202020204" charset="0"/>
      <p:regular r:id="rId19"/>
    </p:embeddedFont>
    <p:embeddedFont>
      <p:font typeface="Barlow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8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s://farmer-scheatsheet.vercel.app/" TargetMode="External"/><Relationship Id="rId7" Type="http://schemas.openxmlformats.org/officeDocument/2006/relationships/image" Target="../media/image33.svg"/><Relationship Id="rId2" Type="http://schemas.openxmlformats.org/officeDocument/2006/relationships/hyperlink" Target="mailto:rawllincecj@gmail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EA5AD41-9FE7-2B61-F171-D47B0D156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326" y="0"/>
            <a:ext cx="18365194" cy="102870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4309762" y="1467788"/>
            <a:ext cx="2274977" cy="2274977"/>
          </a:xfrm>
          <a:custGeom>
            <a:avLst/>
            <a:gdLst/>
            <a:ahLst/>
            <a:cxnLst/>
            <a:rect l="l" t="t" r="r" b="b"/>
            <a:pathLst>
              <a:path w="2274977" h="2274977">
                <a:moveTo>
                  <a:pt x="0" y="0"/>
                </a:moveTo>
                <a:lnTo>
                  <a:pt x="2274976" y="0"/>
                </a:lnTo>
                <a:lnTo>
                  <a:pt x="2274976" y="2274977"/>
                </a:lnTo>
                <a:lnTo>
                  <a:pt x="0" y="2274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3234911" y="2328734"/>
            <a:ext cx="2212339" cy="553085"/>
          </a:xfrm>
          <a:custGeom>
            <a:avLst/>
            <a:gdLst/>
            <a:ahLst/>
            <a:cxnLst/>
            <a:rect l="l" t="t" r="r" b="b"/>
            <a:pathLst>
              <a:path w="2212339" h="553085">
                <a:moveTo>
                  <a:pt x="0" y="0"/>
                </a:moveTo>
                <a:lnTo>
                  <a:pt x="2212339" y="0"/>
                </a:lnTo>
                <a:lnTo>
                  <a:pt x="2212339" y="553085"/>
                </a:lnTo>
                <a:lnTo>
                  <a:pt x="0" y="553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1028700" y="3634252"/>
            <a:ext cx="12024357" cy="1867353"/>
            <a:chOff x="0" y="3494796"/>
            <a:chExt cx="16032476" cy="2489804"/>
          </a:xfrm>
        </p:grpSpPr>
        <p:sp>
          <p:nvSpPr>
            <p:cNvPr id="6" name="TextBox 6"/>
            <p:cNvSpPr txBox="1"/>
            <p:nvPr/>
          </p:nvSpPr>
          <p:spPr>
            <a:xfrm>
              <a:off x="1544477" y="4326027"/>
              <a:ext cx="14487999" cy="1658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endParaRPr lang="en-US" sz="81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494796"/>
              <a:ext cx="14487999" cy="854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endParaRPr lang="en-US" sz="3999" b="1" i="1" dirty="0">
                <a:solidFill>
                  <a:srgbClr val="0BB6BC"/>
                </a:solidFill>
                <a:latin typeface="Barlow Medium Italics"/>
                <a:ea typeface="Barlow Medium Italics"/>
                <a:cs typeface="Barlow Medium Italics"/>
                <a:sym typeface="Barlow Medium Itali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5076825"/>
            <a:ext cx="12024357" cy="3919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4890" y="93758"/>
            <a:ext cx="9296400" cy="8925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23232"/>
                </a:solidFill>
              </a:defRPr>
            </a:pPr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Quality Assessment Tool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sz="4000" dirty="0">
                <a:solidFill>
                  <a:srgbClr val="FF0000"/>
                </a:solidFill>
              </a:rPr>
              <a:t>Revolutionizing Agriculture Through Smart Soil Analysis</a:t>
            </a:r>
            <a:endParaRPr lang="en-US" sz="4000" dirty="0">
              <a:solidFill>
                <a:srgbClr val="FF000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sz="4000" dirty="0">
                <a:solidFill>
                  <a:srgbClr val="FF0000"/>
                </a:solidFill>
              </a:rPr>
              <a:t>Empowering </a:t>
            </a:r>
            <a:r>
              <a:rPr sz="4000">
                <a:solidFill>
                  <a:srgbClr val="FF0000"/>
                </a:solidFill>
              </a:rPr>
              <a:t>Farmers with</a:t>
            </a:r>
            <a:endParaRPr lang="en-US" sz="4000">
              <a:solidFill>
                <a:srgbClr val="FF000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sz="400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Data-Driven Crop Recommendations</a:t>
            </a:r>
            <a:endParaRPr lang="en-US" sz="4000" dirty="0">
              <a:solidFill>
                <a:srgbClr val="FF000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4000" dirty="0">
                <a:solidFill>
                  <a:srgbClr val="00B0F0"/>
                </a:solidFill>
              </a:rPr>
            </a:br>
            <a:r>
              <a:rPr sz="4000" dirty="0">
                <a:solidFill>
                  <a:srgbClr val="00B0F0"/>
                </a:solidFill>
              </a:rPr>
              <a:t>Presented by: Rawllince Onyango Okello</a:t>
            </a:r>
            <a:br>
              <a:rPr sz="4000" dirty="0">
                <a:solidFill>
                  <a:srgbClr val="00B0F0"/>
                </a:solidFill>
              </a:rPr>
            </a:br>
            <a:r>
              <a:rPr sz="4000" dirty="0">
                <a:solidFill>
                  <a:srgbClr val="00B0F0"/>
                </a:solidFill>
              </a:rPr>
              <a:t>Date: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B6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52450"/>
            <a:ext cx="9601200" cy="11544300"/>
          </a:xfrm>
          <a:custGeom>
            <a:avLst/>
            <a:gdLst/>
            <a:ahLst/>
            <a:cxnLst/>
            <a:rect l="l" t="t" r="r" b="b"/>
            <a:pathLst>
              <a:path w="9601200" h="115443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b="-1008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28700" y="4165600"/>
            <a:ext cx="6994911" cy="20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629257" y="9576600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303663" y="143884"/>
            <a:ext cx="1837509" cy="1837509"/>
          </a:xfrm>
          <a:custGeom>
            <a:avLst/>
            <a:gdLst/>
            <a:ahLst/>
            <a:cxnLst/>
            <a:rect l="l" t="t" r="r" b="b"/>
            <a:pathLst>
              <a:path w="1837509" h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9256" y="2180441"/>
            <a:ext cx="8552985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  <a:p>
            <a:endParaRPr sz="32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billion hectares of degraded agricultural land worldwide</a:t>
            </a:r>
            <a:b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33% of global soils moderately to highly degraded</a:t>
            </a:r>
            <a:b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$400B annual losses from poor soil management</a:t>
            </a:r>
            <a:b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Smallholder farmers lack soil testing access</a:t>
            </a:r>
            <a:b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6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worsening degradation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0F435F-AD5D-7E81-F260-BD5850558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862" y="1638300"/>
            <a:ext cx="7753881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310335"/>
            <a:ext cx="7315200" cy="750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>
              <a:solidFill>
                <a:srgbClr val="0070C0"/>
              </a:solidFill>
            </a:endParaRPr>
          </a:p>
          <a:p>
            <a:pPr algn="ctr">
              <a:defRPr sz="2000">
                <a:solidFill>
                  <a:srgbClr val="323232"/>
                </a:solidFill>
              </a:defRPr>
            </a:pPr>
            <a:r>
              <a:rPr lang="en-US" sz="5400" b="1" u="sng" dirty="0">
                <a:solidFill>
                  <a:srgbClr val="0070C0"/>
                </a:solidFill>
              </a:rPr>
              <a:t>MARKET OPPORTUNITY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endParaRPr lang="en-US" sz="2400" dirty="0"/>
          </a:p>
          <a:p>
            <a:pPr algn="l">
              <a:defRPr sz="2000">
                <a:solidFill>
                  <a:srgbClr val="323232"/>
                </a:solidFill>
              </a:defRPr>
            </a:pPr>
            <a:r>
              <a:rPr sz="3200" dirty="0">
                <a:solidFill>
                  <a:srgbClr val="7030A0"/>
                </a:solidFill>
              </a:rPr>
              <a:t>A $2.4T Agriculture Technology Market</a:t>
            </a:r>
            <a:endParaRPr lang="en-US" sz="3200" dirty="0">
              <a:solidFill>
                <a:srgbClr val="7030A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3200" dirty="0">
                <a:solidFill>
                  <a:srgbClr val="7030A0"/>
                </a:solidFill>
              </a:rPr>
            </a:br>
            <a:r>
              <a:rPr sz="3200" dirty="0">
                <a:solidFill>
                  <a:srgbClr val="7030A0"/>
                </a:solidFill>
              </a:rPr>
              <a:t>Precision agriculture $12.9B → $43.4B by 2030</a:t>
            </a:r>
            <a:endParaRPr lang="en-US" sz="3200" dirty="0">
              <a:solidFill>
                <a:srgbClr val="7030A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3200" dirty="0">
                <a:solidFill>
                  <a:srgbClr val="7030A0"/>
                </a:solidFill>
              </a:rPr>
            </a:br>
            <a:r>
              <a:rPr sz="3200" dirty="0">
                <a:solidFill>
                  <a:srgbClr val="7030A0"/>
                </a:solidFill>
              </a:rPr>
              <a:t>Digital farming growing 12.5% CAGR</a:t>
            </a:r>
            <a:endParaRPr lang="en-US" sz="3200" dirty="0">
              <a:solidFill>
                <a:srgbClr val="7030A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3200" dirty="0">
                <a:solidFill>
                  <a:srgbClr val="7030A0"/>
                </a:solidFill>
              </a:rPr>
            </a:br>
            <a:r>
              <a:rPr sz="3200" dirty="0">
                <a:solidFill>
                  <a:srgbClr val="7030A0"/>
                </a:solidFill>
              </a:rPr>
              <a:t>500M smallholder farmers underserved</a:t>
            </a:r>
            <a:endParaRPr lang="en-US" sz="3200" dirty="0">
              <a:solidFill>
                <a:srgbClr val="7030A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3200" dirty="0">
                <a:solidFill>
                  <a:srgbClr val="7030A0"/>
                </a:solidFill>
              </a:rPr>
            </a:br>
            <a:r>
              <a:rPr sz="3200" dirty="0">
                <a:solidFill>
                  <a:srgbClr val="7030A0"/>
                </a:solidFill>
              </a:rPr>
              <a:t>Africa agriculture: $280B, 60% of jobs</a:t>
            </a:r>
            <a:endParaRPr lang="en-US" sz="3200" dirty="0">
              <a:solidFill>
                <a:srgbClr val="7030A0"/>
              </a:solidFill>
            </a:endParaRPr>
          </a:p>
          <a:p>
            <a:pPr algn="l">
              <a:defRPr sz="2000">
                <a:solidFill>
                  <a:srgbClr val="323232"/>
                </a:solidFill>
              </a:defRPr>
            </a:pPr>
            <a:br>
              <a:rPr sz="3200" dirty="0">
                <a:solidFill>
                  <a:srgbClr val="7030A0"/>
                </a:solidFill>
              </a:rPr>
            </a:br>
            <a:r>
              <a:rPr sz="3200" dirty="0">
                <a:solidFill>
                  <a:srgbClr val="7030A0"/>
                </a:solidFill>
              </a:rPr>
              <a:t>Kenya: $11B sector, high potential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CEB56E-C657-4C45-B9AE-35B1BD1D2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53"/>
          <a:stretch>
            <a:fillRect/>
          </a:stretch>
        </p:blipFill>
        <p:spPr>
          <a:xfrm>
            <a:off x="9228629" y="647701"/>
            <a:ext cx="9745171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3B5D39-19D8-0ABF-339E-0B0B369C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14" r="3740" b="9067"/>
          <a:stretch>
            <a:fillRect/>
          </a:stretch>
        </p:blipFill>
        <p:spPr>
          <a:xfrm>
            <a:off x="8716887" y="1028700"/>
            <a:ext cx="9571113" cy="806740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74293" y="543843"/>
              <a:ext cx="463671" cy="324570"/>
            </a:xfrm>
            <a:custGeom>
              <a:avLst/>
              <a:gdLst/>
              <a:ahLst/>
              <a:cxnLst/>
              <a:rect l="l" t="t" r="r" b="b"/>
              <a:pathLst>
                <a:path w="463671" h="324570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625742"/>
            <a:ext cx="957111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28700" y="2454542"/>
            <a:ext cx="9571112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799"/>
            <a:ext cx="82296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u="sng" dirty="0">
                <a:solidFill>
                  <a:srgbClr val="0070C0"/>
                </a:solidFill>
              </a:rPr>
              <a:t>OUR SOLUTION</a:t>
            </a:r>
          </a:p>
          <a:p>
            <a:endParaRPr lang="en-US" b="1" dirty="0"/>
          </a:p>
          <a:p>
            <a:pPr algn="ctr"/>
            <a:r>
              <a:rPr lang="en-US" sz="3600" b="1" i="1" u="sng" dirty="0">
                <a:solidFill>
                  <a:schemeClr val="accent2">
                    <a:lumMod val="50000"/>
                  </a:schemeClr>
                </a:solidFill>
              </a:rPr>
              <a:t>Smart Soil Analysis Made Simple</a:t>
            </a:r>
            <a:endParaRPr lang="en-US" sz="3600" i="1" u="sng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3200" i="1" dirty="0">
                <a:solidFill>
                  <a:schemeClr val="tx2">
                    <a:lumMod val="75000"/>
                  </a:schemeClr>
                </a:solidFill>
              </a:rPr>
              <a:t>The Soil Quality Assessment Tool is an AI-powered web application that provides instant, personalized crop recommendations based on soil parameters</a:t>
            </a:r>
            <a:r>
              <a:rPr lang="en-US" sz="2400" i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r>
              <a:rPr lang="en-US" sz="2400" b="1" dirty="0"/>
              <a:t>Key Features:</a:t>
            </a:r>
            <a:endParaRPr lang="en-US" sz="2400" dirty="0"/>
          </a:p>
          <a:p>
            <a:r>
              <a:rPr lang="en-US" sz="2400" dirty="0"/>
              <a:t>✅ </a:t>
            </a:r>
            <a:r>
              <a:rPr lang="en-US" sz="2400" b="1" dirty="0"/>
              <a:t>User-friendly interface</a:t>
            </a:r>
            <a:r>
              <a:rPr lang="en-US" sz="2400" dirty="0"/>
              <a:t> for soil parameter input</a:t>
            </a:r>
          </a:p>
          <a:p>
            <a:r>
              <a:rPr lang="en-US" sz="2400" dirty="0"/>
              <a:t>✅ </a:t>
            </a:r>
            <a:r>
              <a:rPr lang="en-US" sz="2400" b="1" dirty="0"/>
              <a:t>Real-time crop recommendations</a:t>
            </a:r>
            <a:r>
              <a:rPr lang="en-US" sz="2400" dirty="0"/>
              <a:t> from 12+ crop varieties</a:t>
            </a:r>
          </a:p>
          <a:p>
            <a:r>
              <a:rPr lang="en-US" sz="2400" dirty="0"/>
              <a:t>✅ </a:t>
            </a:r>
            <a:r>
              <a:rPr lang="en-US" sz="2400" b="1" dirty="0"/>
              <a:t>Mobile-responsive design</a:t>
            </a:r>
            <a:r>
              <a:rPr lang="en-US" sz="2400" dirty="0"/>
              <a:t> for field accessibility</a:t>
            </a:r>
          </a:p>
          <a:p>
            <a:r>
              <a:rPr lang="en-US" sz="2400" dirty="0"/>
              <a:t>✅ </a:t>
            </a:r>
            <a:r>
              <a:rPr lang="en-US" sz="2400" b="1" dirty="0"/>
              <a:t>Educational resources</a:t>
            </a:r>
            <a:r>
              <a:rPr lang="en-US" sz="2400" dirty="0"/>
              <a:t> on sustainable farming</a:t>
            </a:r>
          </a:p>
          <a:p>
            <a:r>
              <a:rPr lang="en-US" sz="2400" dirty="0"/>
              <a:t>✅ </a:t>
            </a:r>
            <a:r>
              <a:rPr lang="en-US" sz="2400" b="1" dirty="0"/>
              <a:t>Free to use</a:t>
            </a:r>
            <a:r>
              <a:rPr lang="en-US" sz="2400" dirty="0"/>
              <a:t> with premium analytics options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31599" y="2656607"/>
            <a:ext cx="2651460" cy="5246370"/>
            <a:chOff x="0" y="0"/>
            <a:chExt cx="2620010" cy="5184140"/>
          </a:xfrm>
        </p:grpSpPr>
        <p:sp>
          <p:nvSpPr>
            <p:cNvPr id="3" name="Freeform 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69093" r="-169093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159559" y="2656607"/>
            <a:ext cx="2651460" cy="5246370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28700" y="667172"/>
            <a:ext cx="8663715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E32D642-10B9-6DA0-40F2-289385641C8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" y="0"/>
            <a:ext cx="18220564" cy="10287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192356" y="858681"/>
            <a:ext cx="7092320" cy="806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/>
              <a:t> </a:t>
            </a:r>
            <a:r>
              <a:rPr lang="en-US" sz="4800" b="1" u="sng" dirty="0"/>
              <a:t>How It Works</a:t>
            </a:r>
            <a:endParaRPr lang="en-US" sz="2400" b="1" u="sng" dirty="0"/>
          </a:p>
          <a:p>
            <a:r>
              <a:rPr lang="en-US" sz="2800" b="1" dirty="0"/>
              <a:t>Simple 4-Step Process</a:t>
            </a:r>
            <a:endParaRPr lang="en-US" sz="2800" dirty="0"/>
          </a:p>
          <a:p>
            <a:r>
              <a:rPr lang="en-US" sz="2800" b="1" dirty="0"/>
              <a:t>Input Soil Parameters</a:t>
            </a:r>
            <a:endParaRPr lang="en-US" sz="2800" dirty="0"/>
          </a:p>
          <a:p>
            <a:pPr lvl="1"/>
            <a:r>
              <a:rPr lang="en-US" sz="2800" dirty="0"/>
              <a:t>Soil type (clay, sandy, loam, etc.)</a:t>
            </a:r>
          </a:p>
          <a:p>
            <a:pPr lvl="1"/>
            <a:r>
              <a:rPr lang="en-US" sz="2800" dirty="0"/>
              <a:t>Moisture level (0-100%)</a:t>
            </a:r>
          </a:p>
          <a:p>
            <a:pPr lvl="1"/>
            <a:r>
              <a:rPr lang="en-US" sz="2800" dirty="0"/>
              <a:t>Organic content (0-10%)</a:t>
            </a:r>
          </a:p>
          <a:p>
            <a:pPr lvl="1"/>
            <a:r>
              <a:rPr lang="en-US" sz="2800" dirty="0"/>
              <a:t>pH level (4-10)</a:t>
            </a:r>
          </a:p>
          <a:p>
            <a:r>
              <a:rPr lang="en-US" sz="2800" b="1" dirty="0"/>
              <a:t>AI Analysis</a:t>
            </a:r>
            <a:endParaRPr lang="en-US" sz="2800" dirty="0"/>
          </a:p>
          <a:p>
            <a:pPr lvl="1"/>
            <a:r>
              <a:rPr lang="en-US" sz="2800" dirty="0"/>
              <a:t>Algorithm processes 4 key parameters</a:t>
            </a:r>
          </a:p>
          <a:p>
            <a:pPr lvl="1"/>
            <a:r>
              <a:rPr lang="en-US" sz="2800" dirty="0"/>
              <a:t>Cross-references with crop database</a:t>
            </a:r>
          </a:p>
          <a:p>
            <a:pPr lvl="1"/>
            <a:r>
              <a:rPr lang="en-US" sz="2800" dirty="0"/>
              <a:t>Considers multiple soil factors simultaneously</a:t>
            </a:r>
          </a:p>
          <a:p>
            <a:r>
              <a:rPr lang="en-US" sz="2800" b="1" dirty="0"/>
              <a:t>Get Recommendations</a:t>
            </a:r>
            <a:endParaRPr lang="en-US" sz="2800" dirty="0"/>
          </a:p>
          <a:p>
            <a:pPr lvl="1"/>
            <a:r>
              <a:rPr lang="en-US" sz="2800" dirty="0"/>
              <a:t>Up to 6 personalized crop suggestions</a:t>
            </a:r>
          </a:p>
          <a:p>
            <a:pPr lvl="1"/>
            <a:r>
              <a:rPr lang="en-US" sz="2800" dirty="0"/>
              <a:t>Suitability ratings (Excellent/Good/Fair)</a:t>
            </a:r>
          </a:p>
          <a:p>
            <a:pPr lvl="1"/>
            <a:r>
              <a:rPr lang="en-US" sz="2800" dirty="0"/>
              <a:t>Detailed benefits and growing tips</a:t>
            </a:r>
          </a:p>
          <a:p>
            <a:r>
              <a:rPr lang="en-US" sz="2800" b="1" dirty="0"/>
              <a:t>Implement &amp; Track</a:t>
            </a:r>
            <a:endParaRPr lang="en-US" sz="2800" dirty="0"/>
          </a:p>
          <a:p>
            <a:pPr lvl="1"/>
            <a:r>
              <a:rPr lang="en-US" sz="2800" dirty="0"/>
              <a:t>Apply recommendations in the field</a:t>
            </a:r>
          </a:p>
          <a:p>
            <a:pPr lvl="1"/>
            <a:r>
              <a:rPr lang="en-US" sz="2800" dirty="0"/>
              <a:t>Track results for continuous improvement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052" y="1109577"/>
            <a:ext cx="8904202" cy="827039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2386178"/>
            <a:ext cx="7372995" cy="107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28700" y="622869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u="sng" dirty="0">
                <a:solidFill>
                  <a:srgbClr val="0070C0"/>
                </a:solidFill>
              </a:rPr>
              <a:t>Market Validation</a:t>
            </a:r>
          </a:p>
          <a:p>
            <a:endParaRPr lang="en-US" sz="6000" b="1" u="sng" dirty="0">
              <a:solidFill>
                <a:srgbClr val="0070C0"/>
              </a:solidFill>
            </a:endParaRPr>
          </a:p>
          <a:p>
            <a:r>
              <a:rPr lang="en-US" sz="4000" b="1" dirty="0">
                <a:solidFill>
                  <a:srgbClr val="0070C0"/>
                </a:solidFill>
              </a:rPr>
              <a:t>Early Traction &amp; User Feedback</a:t>
            </a:r>
            <a:endParaRPr lang="en-US" sz="4000" dirty="0">
              <a:solidFill>
                <a:srgbClr val="0070C0"/>
              </a:solidFill>
            </a:endParaRPr>
          </a:p>
          <a:p>
            <a:r>
              <a:rPr lang="en-US" sz="4000" b="1" dirty="0">
                <a:solidFill>
                  <a:srgbClr val="0070C0"/>
                </a:solidFill>
              </a:rPr>
              <a:t>User Metrics (First 3 Months):</a:t>
            </a:r>
            <a:endParaRPr lang="en-US" sz="4000" dirty="0">
              <a:solidFill>
                <a:srgbClr val="0070C0"/>
              </a:solidFill>
            </a:endParaRPr>
          </a:p>
          <a:p>
            <a:r>
              <a:rPr lang="en-US" sz="4000" b="1" dirty="0">
                <a:solidFill>
                  <a:srgbClr val="0070C0"/>
                </a:solidFill>
              </a:rPr>
              <a:t>2,500+</a:t>
            </a:r>
            <a:r>
              <a:rPr lang="en-US" sz="4000" dirty="0">
                <a:solidFill>
                  <a:srgbClr val="0070C0"/>
                </a:solidFill>
              </a:rPr>
              <a:t> unique users</a:t>
            </a:r>
          </a:p>
          <a:p>
            <a:r>
              <a:rPr lang="en-US" sz="4000" b="1" dirty="0">
                <a:solidFill>
                  <a:srgbClr val="0070C0"/>
                </a:solidFill>
              </a:rPr>
              <a:t>15,000+</a:t>
            </a:r>
            <a:r>
              <a:rPr lang="en-US" sz="4000" dirty="0">
                <a:solidFill>
                  <a:srgbClr val="0070C0"/>
                </a:solidFill>
              </a:rPr>
              <a:t> soil assessments completed</a:t>
            </a:r>
          </a:p>
          <a:p>
            <a:r>
              <a:rPr lang="en-US" sz="4000" b="1" dirty="0">
                <a:solidFill>
                  <a:srgbClr val="0070C0"/>
                </a:solidFill>
              </a:rPr>
              <a:t>4.8/5</a:t>
            </a:r>
            <a:r>
              <a:rPr lang="en-US" sz="4000" dirty="0">
                <a:solidFill>
                  <a:srgbClr val="0070C0"/>
                </a:solidFill>
              </a:rPr>
              <a:t> user satisfaction rating</a:t>
            </a:r>
          </a:p>
          <a:p>
            <a:r>
              <a:rPr lang="en-US" sz="4000" b="1" dirty="0">
                <a:solidFill>
                  <a:srgbClr val="0070C0"/>
                </a:solidFill>
              </a:rPr>
              <a:t>87%</a:t>
            </a:r>
            <a:r>
              <a:rPr lang="en-US" sz="4000" dirty="0">
                <a:solidFill>
                  <a:srgbClr val="0070C0"/>
                </a:solidFill>
              </a:rPr>
              <a:t> reported improved crop decisions</a:t>
            </a:r>
          </a:p>
          <a:p>
            <a:endParaRPr sz="4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ECFE6D2-991D-C85E-893A-B2C5A97A7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2091" y="0"/>
            <a:ext cx="8216816" cy="8998522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216817" y="329343"/>
            <a:ext cx="10071183" cy="9602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b="1" dirty="0"/>
              <a:t>Business Model</a:t>
            </a:r>
          </a:p>
          <a:p>
            <a:r>
              <a:rPr lang="en-US" sz="3200" b="1" dirty="0"/>
              <a:t>Sustainable Revenue Streams</a:t>
            </a:r>
            <a:endParaRPr lang="en-US" sz="3200" dirty="0"/>
          </a:p>
          <a:p>
            <a:r>
              <a:rPr lang="en-US" sz="3200" b="1" dirty="0"/>
              <a:t>Freemium Model:</a:t>
            </a:r>
            <a:endParaRPr lang="en-US" sz="3200" dirty="0"/>
          </a:p>
          <a:p>
            <a:r>
              <a:rPr lang="en-US" sz="3200" b="1" dirty="0"/>
              <a:t>Free Tier:</a:t>
            </a:r>
            <a:r>
              <a:rPr lang="en-US" sz="3200" dirty="0"/>
              <a:t> Basic soil assessment + 3 crop recommendations</a:t>
            </a:r>
          </a:p>
          <a:p>
            <a:r>
              <a:rPr lang="en-US" sz="3200" b="1" dirty="0"/>
              <a:t>Premium Tier:</a:t>
            </a:r>
            <a:r>
              <a:rPr lang="en-US" sz="3200" dirty="0"/>
              <a:t> $9.99/month</a:t>
            </a:r>
          </a:p>
          <a:p>
            <a:pPr lvl="1"/>
            <a:r>
              <a:rPr lang="en-US" sz="3200" dirty="0"/>
              <a:t>Unlimited assessments</a:t>
            </a:r>
          </a:p>
          <a:p>
            <a:pPr lvl="1"/>
            <a:r>
              <a:rPr lang="en-US" sz="3200" dirty="0"/>
              <a:t>Advanced analytics</a:t>
            </a:r>
          </a:p>
          <a:p>
            <a:pPr lvl="1"/>
            <a:r>
              <a:rPr lang="en-US" sz="3200" dirty="0"/>
              <a:t>Historical tracking</a:t>
            </a:r>
          </a:p>
          <a:p>
            <a:pPr lvl="1"/>
            <a:r>
              <a:rPr lang="en-US" sz="3200" dirty="0"/>
              <a:t>Export reports</a:t>
            </a:r>
          </a:p>
          <a:p>
            <a:r>
              <a:rPr lang="en-US" sz="3200" b="1" dirty="0"/>
              <a:t>Enterprise Solutions:</a:t>
            </a:r>
            <a:endParaRPr lang="en-US" sz="3200" dirty="0"/>
          </a:p>
          <a:p>
            <a:r>
              <a:rPr lang="en-US" sz="3200" b="1" dirty="0"/>
              <a:t>Farm Cooperatives:</a:t>
            </a:r>
            <a:r>
              <a:rPr lang="en-US" sz="3200" dirty="0"/>
              <a:t> $49/month per user</a:t>
            </a:r>
          </a:p>
          <a:p>
            <a:r>
              <a:rPr lang="en-US" sz="3200" b="1" dirty="0"/>
              <a:t>Agricultural Companies:</a:t>
            </a:r>
            <a:r>
              <a:rPr lang="en-US" sz="3200" dirty="0"/>
              <a:t> Custom integrations</a:t>
            </a:r>
          </a:p>
          <a:p>
            <a:r>
              <a:rPr lang="en-US" sz="3200" b="1" dirty="0"/>
              <a:t>Government Programs:</a:t>
            </a:r>
            <a:r>
              <a:rPr lang="en-US" sz="3200" dirty="0"/>
              <a:t> Volume licensing</a:t>
            </a:r>
          </a:p>
          <a:p>
            <a:r>
              <a:rPr lang="en-US" sz="3200" b="1" dirty="0"/>
              <a:t>Projected Revenue (Year 1):</a:t>
            </a:r>
            <a:endParaRPr lang="en-US" sz="3200" dirty="0"/>
          </a:p>
          <a:p>
            <a:r>
              <a:rPr lang="en-US" sz="3200" dirty="0"/>
              <a:t>Free users: 50,000</a:t>
            </a:r>
          </a:p>
          <a:p>
            <a:r>
              <a:rPr lang="en-US" sz="3200" dirty="0"/>
              <a:t>Premium conversions: 5% → 2,500 subscribers</a:t>
            </a:r>
          </a:p>
          <a:p>
            <a:r>
              <a:rPr lang="en-US" sz="3200" dirty="0"/>
              <a:t>Revenue: $300,000</a:t>
            </a:r>
          </a:p>
          <a:p>
            <a:r>
              <a:rPr lang="en-US" sz="3200" dirty="0"/>
              <a:t>Gross Margin: 85%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08761" y="257175"/>
            <a:ext cx="875053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32622" y="259778"/>
            <a:ext cx="6812379" cy="8998522"/>
          </a:xfrm>
          <a:custGeom>
            <a:avLst/>
            <a:gdLst/>
            <a:ahLst/>
            <a:cxnLst/>
            <a:rect l="l" t="t" r="r" b="b"/>
            <a:pathLst>
              <a:path w="6438900" h="8505190">
                <a:moveTo>
                  <a:pt x="910590" y="0"/>
                </a:moveTo>
                <a:lnTo>
                  <a:pt x="1898650" y="289560"/>
                </a:lnTo>
                <a:lnTo>
                  <a:pt x="0" y="4405630"/>
                </a:lnTo>
                <a:lnTo>
                  <a:pt x="910590" y="0"/>
                </a:lnTo>
                <a:close/>
                <a:moveTo>
                  <a:pt x="3253740" y="8047990"/>
                </a:moveTo>
                <a:lnTo>
                  <a:pt x="4916170" y="8505190"/>
                </a:lnTo>
                <a:lnTo>
                  <a:pt x="6438900" y="671830"/>
                </a:lnTo>
                <a:lnTo>
                  <a:pt x="3253740" y="8047990"/>
                </a:lnTo>
                <a:close/>
              </a:path>
            </a:pathLst>
          </a:custGeom>
          <a:solidFill>
            <a:srgbClr val="0BB6BC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52" y="1930507"/>
            <a:ext cx="4249772" cy="191905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558682" y="0"/>
            <a:ext cx="90827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13590E7-E78D-8143-FB20-F83CA4700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951838"/>
              </p:ext>
            </p:extLst>
          </p:nvPr>
        </p:nvGraphicFramePr>
        <p:xfrm>
          <a:off x="6100057" y="575090"/>
          <a:ext cx="10058400" cy="65019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174892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8250461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244030570"/>
                    </a:ext>
                  </a:extLst>
                </a:gridCol>
              </a:tblGrid>
              <a:tr h="718750">
                <a:tc gridSpan="3">
                  <a:txBody>
                    <a:bodyPr/>
                    <a:lstStyle/>
                    <a:p>
                      <a:pPr algn="ctr"/>
                      <a:r>
                        <a:rPr lang="en-US" sz="4800" u="sng" dirty="0">
                          <a:solidFill>
                            <a:schemeClr val="accent5"/>
                          </a:solidFill>
                        </a:rPr>
                        <a:t>Competitive advantage</a:t>
                      </a:r>
                      <a:endParaRPr lang="en-KE" sz="4800" u="sng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803539"/>
                  </a:ext>
                </a:extLst>
              </a:tr>
              <a:tr h="709876">
                <a:tc gridSpan="3">
                  <a:txBody>
                    <a:bodyPr/>
                    <a:lstStyle/>
                    <a:p>
                      <a:pPr algn="ctr"/>
                      <a:r>
                        <a:rPr lang="en-US" sz="4000" b="1" u="sng" dirty="0">
                          <a:solidFill>
                            <a:schemeClr val="accent5"/>
                          </a:solidFill>
                        </a:rPr>
                        <a:t>Why we are different</a:t>
                      </a:r>
                      <a:endParaRPr lang="en-KE" sz="4000" b="1" u="sng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262275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Feature</a:t>
                      </a:r>
                      <a:endParaRPr lang="en-KE" sz="2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Our solution</a:t>
                      </a:r>
                      <a:endParaRPr lang="en-KE" sz="2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C00000"/>
                          </a:solidFill>
                        </a:rPr>
                        <a:t>Competitors</a:t>
                      </a:r>
                      <a:endParaRPr lang="en-KE" sz="28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278117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cost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Free basic version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50 -500$ /month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945695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Accessibility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Web + Mobile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Desktop only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017784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Crops supported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12+ varieties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#-5 varieties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84721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Real-Time result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Instant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Hours /days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384689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Local relevance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Africa focused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Generic global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927912"/>
                  </a:ext>
                </a:extLst>
              </a:tr>
              <a:tr h="709876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User experience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Intuitive sliders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Complex forms</a:t>
                      </a:r>
                      <a:endParaRPr lang="en-KE" sz="28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28615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A89D5FE-8494-BC40-E840-D9EC28506765}"/>
              </a:ext>
            </a:extLst>
          </p:cNvPr>
          <p:cNvSpPr txBox="1"/>
          <p:nvPr/>
        </p:nvSpPr>
        <p:spPr>
          <a:xfrm>
            <a:off x="6100057" y="7135163"/>
            <a:ext cx="9144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7030A0"/>
                </a:solidFill>
                <a:effectLst/>
                <a:latin typeface="-apple-system"/>
              </a:rPr>
              <a:t>Unique Selling Points:</a:t>
            </a:r>
            <a:endParaRPr lang="en-US" sz="20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KE" sz="2000" b="0" i="0" dirty="0">
                <a:solidFill>
                  <a:srgbClr val="7030A0"/>
                </a:solidFill>
                <a:effectLst/>
                <a:latin typeface="-apple-system"/>
              </a:rPr>
              <a:t>🌱 </a:t>
            </a:r>
            <a:r>
              <a:rPr lang="en-US" sz="2000" b="1" i="0" dirty="0">
                <a:solidFill>
                  <a:srgbClr val="7030A0"/>
                </a:solidFill>
                <a:effectLst/>
                <a:latin typeface="-apple-system"/>
              </a:rPr>
              <a:t>Africa-specific crop database</a:t>
            </a:r>
            <a:endParaRPr lang="en-US" sz="20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KE" sz="2000" b="0" i="0" dirty="0">
                <a:solidFill>
                  <a:srgbClr val="7030A0"/>
                </a:solidFill>
                <a:effectLst/>
                <a:latin typeface="-apple-system"/>
              </a:rPr>
              <a:t>📱 </a:t>
            </a:r>
            <a:r>
              <a:rPr lang="en-US" sz="2000" b="1" i="0" dirty="0">
                <a:solidFill>
                  <a:srgbClr val="7030A0"/>
                </a:solidFill>
                <a:effectLst/>
                <a:latin typeface="-apple-system"/>
              </a:rPr>
              <a:t>Offline-capable mobile version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-apple-system"/>
              </a:rPr>
              <a:t> (planned)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KE" sz="2000" b="0" i="0" dirty="0">
                <a:solidFill>
                  <a:srgbClr val="7030A0"/>
                </a:solidFill>
                <a:effectLst/>
                <a:latin typeface="-apple-system"/>
              </a:rPr>
              <a:t>🤖 </a:t>
            </a:r>
            <a:r>
              <a:rPr lang="en-US" sz="2000" b="1" i="0" dirty="0">
                <a:solidFill>
                  <a:srgbClr val="7030A0"/>
                </a:solidFill>
                <a:effectLst/>
                <a:latin typeface="-apple-system"/>
              </a:rPr>
              <a:t>Continuous algorithm improvement</a:t>
            </a:r>
            <a:endParaRPr lang="en-US" sz="20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KE" sz="2000" b="0" i="0" dirty="0">
                <a:solidFill>
                  <a:srgbClr val="7030A0"/>
                </a:solidFill>
                <a:effectLst/>
                <a:latin typeface="-apple-system"/>
              </a:rPr>
              <a:t>🌍 </a:t>
            </a:r>
            <a:r>
              <a:rPr lang="en-US" sz="2000" b="1" i="0" dirty="0">
                <a:solidFill>
                  <a:srgbClr val="7030A0"/>
                </a:solidFill>
                <a:effectLst/>
                <a:latin typeface="-apple-system"/>
              </a:rPr>
              <a:t>Multi-language support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-apple-system"/>
              </a:rPr>
              <a:t> (planned)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KE" sz="2000" b="0" i="0" dirty="0">
                <a:solidFill>
                  <a:srgbClr val="7030A0"/>
                </a:solidFill>
                <a:effectLst/>
                <a:latin typeface="-apple-system"/>
              </a:rPr>
              <a:t>📊 </a:t>
            </a:r>
            <a:r>
              <a:rPr lang="en-US" sz="2000" b="1" i="0" dirty="0">
                <a:solidFill>
                  <a:srgbClr val="7030A0"/>
                </a:solidFill>
                <a:effectLst/>
                <a:latin typeface="-apple-system"/>
              </a:rPr>
              <a:t>Farm analytics dashboard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-apple-system"/>
              </a:rPr>
              <a:t> (premium)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03359" y="3357575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03359" y="8136464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913736" y="2694518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075969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1029376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2982784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4936191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2068802" y="2696086"/>
            <a:ext cx="437069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997743" y="3419744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997743" y="4022985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997743" y="4626226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997743" y="5229466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997743" y="5832707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997743" y="6435948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997743" y="7039189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997743" y="7642429"/>
            <a:ext cx="4441750" cy="3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73184" y="3424302"/>
            <a:ext cx="1972820" cy="0"/>
          </a:xfrm>
          <a:prstGeom prst="line">
            <a:avLst/>
          </a:prstGeom>
          <a:ln w="485775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59594" y="4027543"/>
            <a:ext cx="2972328" cy="0"/>
          </a:xfrm>
          <a:prstGeom prst="line">
            <a:avLst/>
          </a:prstGeom>
          <a:ln w="485775" cap="flat">
            <a:solidFill>
              <a:srgbClr val="0BB6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659594" y="4603308"/>
            <a:ext cx="2012985" cy="0"/>
          </a:xfrm>
          <a:prstGeom prst="line">
            <a:avLst/>
          </a:prstGeom>
          <a:ln w="485775" cap="flat">
            <a:solidFill>
              <a:srgbClr val="FF66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2631287" y="6402324"/>
            <a:ext cx="2962913" cy="0"/>
          </a:xfrm>
          <a:prstGeom prst="line">
            <a:avLst/>
          </a:prstGeom>
          <a:ln w="485775" cap="flat">
            <a:solidFill>
              <a:srgbClr val="0831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4603759" y="6996645"/>
            <a:ext cx="1980882" cy="0"/>
          </a:xfrm>
          <a:prstGeom prst="line">
            <a:avLst/>
          </a:prstGeom>
          <a:ln w="485775" cap="flat">
            <a:solidFill>
              <a:srgbClr val="CF6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5598405" y="7590073"/>
            <a:ext cx="986236" cy="0"/>
          </a:xfrm>
          <a:prstGeom prst="line">
            <a:avLst/>
          </a:prstGeom>
          <a:ln w="485775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10645368" y="5214576"/>
            <a:ext cx="3966801" cy="0"/>
          </a:xfrm>
          <a:prstGeom prst="line">
            <a:avLst/>
          </a:prstGeom>
          <a:ln w="485775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672578" y="5809789"/>
            <a:ext cx="3944944" cy="0"/>
          </a:xfrm>
          <a:prstGeom prst="line">
            <a:avLst/>
          </a:prstGeom>
          <a:ln w="48577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703359" y="343008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67FFD9E-D77A-89C3-144E-D5FAE777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968" y="0"/>
            <a:ext cx="9212031" cy="899851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1050" y="204088"/>
            <a:ext cx="7315200" cy="981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r>
              <a:rPr lang="en-US" sz="4400" b="1" u="sng" dirty="0"/>
              <a:t>Go-to-Market Strategy</a:t>
            </a:r>
          </a:p>
          <a:p>
            <a:r>
              <a:rPr lang="en-US" sz="2800" b="1" dirty="0"/>
              <a:t>Capturing the African Agriculture Market</a:t>
            </a:r>
            <a:endParaRPr lang="en-US" sz="2800" dirty="0"/>
          </a:p>
          <a:p>
            <a:r>
              <a:rPr lang="en-US" sz="2800" b="1" dirty="0"/>
              <a:t>Phase 1: Kenya Focus (Months 1-6)</a:t>
            </a:r>
            <a:endParaRPr lang="en-US" sz="2800" dirty="0"/>
          </a:p>
          <a:p>
            <a:r>
              <a:rPr lang="en-US" sz="2800" dirty="0"/>
              <a:t>Digital marketing campaigns</a:t>
            </a:r>
          </a:p>
          <a:p>
            <a:r>
              <a:rPr lang="en-US" sz="2800" dirty="0"/>
              <a:t>Partnerships with agricultural extension services</a:t>
            </a:r>
          </a:p>
          <a:p>
            <a:r>
              <a:rPr lang="en-US" sz="2800" dirty="0"/>
              <a:t>Farmer training workshops</a:t>
            </a:r>
          </a:p>
          <a:p>
            <a:r>
              <a:rPr lang="en-US" sz="2800" dirty="0"/>
              <a:t>Local language localization</a:t>
            </a:r>
          </a:p>
          <a:p>
            <a:r>
              <a:rPr lang="en-US" sz="2800" b="1" dirty="0"/>
              <a:t>Phase 2: East Africa Expansion (Months 7-12)</a:t>
            </a:r>
            <a:endParaRPr lang="en-US" sz="2800" dirty="0"/>
          </a:p>
          <a:p>
            <a:r>
              <a:rPr lang="en-US" sz="2800" dirty="0"/>
              <a:t>Market entry in Tanzania, Uganda, Rwanda</a:t>
            </a:r>
          </a:p>
          <a:p>
            <a:r>
              <a:rPr lang="en-US" sz="2800" dirty="0"/>
              <a:t>Regional agricultural partnerships</a:t>
            </a:r>
          </a:p>
          <a:p>
            <a:r>
              <a:rPr lang="en-US" sz="2800" dirty="0"/>
              <a:t>Mobile network integrations</a:t>
            </a:r>
          </a:p>
          <a:p>
            <a:r>
              <a:rPr lang="en-US" sz="2800" b="1" dirty="0"/>
              <a:t>Phase 3: Pan-Africa Scale (Year 2+)</a:t>
            </a:r>
            <a:endParaRPr lang="en-US" sz="2800" dirty="0"/>
          </a:p>
          <a:p>
            <a:r>
              <a:rPr lang="en-US" sz="2800" dirty="0"/>
              <a:t>Full continent coverage</a:t>
            </a:r>
          </a:p>
          <a:p>
            <a:r>
              <a:rPr lang="en-US" sz="2800" dirty="0"/>
              <a:t>Government partnerships</a:t>
            </a:r>
          </a:p>
          <a:p>
            <a:r>
              <a:rPr lang="en-US" sz="2800" dirty="0"/>
              <a:t>International expansion</a:t>
            </a:r>
          </a:p>
          <a:p>
            <a:r>
              <a:rPr lang="en-US" sz="2800" b="1" dirty="0"/>
              <a:t>Marketing Channels:</a:t>
            </a:r>
            <a:endParaRPr lang="en-US" sz="2800" dirty="0"/>
          </a:p>
          <a:p>
            <a:r>
              <a:rPr lang="en-US" sz="2800" dirty="0"/>
              <a:t>Social media (Facebook, WhatsApp)</a:t>
            </a:r>
          </a:p>
          <a:p>
            <a:r>
              <a:rPr lang="en-US" sz="2800" dirty="0"/>
              <a:t>Agricultural trade shows</a:t>
            </a:r>
          </a:p>
          <a:p>
            <a:r>
              <a:rPr lang="en-US" sz="2800" dirty="0"/>
              <a:t>Radio campaigns in local languages</a:t>
            </a:r>
          </a:p>
          <a:p>
            <a:r>
              <a:rPr lang="en-US" sz="2800" dirty="0"/>
              <a:t>Partnership with seed companies</a:t>
            </a:r>
          </a:p>
          <a:p>
            <a:pPr algn="l">
              <a:defRPr sz="2000">
                <a:solidFill>
                  <a:srgbClr val="323232"/>
                </a:solidFill>
              </a:defRPr>
            </a:pPr>
            <a:endParaRPr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341197" cy="10287000"/>
            <a:chOff x="0" y="0"/>
            <a:chExt cx="1245493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28700" y="2583708"/>
            <a:ext cx="6200420" cy="6200420"/>
          </a:xfrm>
          <a:custGeom>
            <a:avLst/>
            <a:gdLst/>
            <a:ahLst/>
            <a:cxnLst/>
            <a:rect l="l" t="t" r="r" b="b"/>
            <a:pathLst>
              <a:path w="6200420" h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28700" y="404813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448567" y="845620"/>
            <a:ext cx="7810733" cy="936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15FBD-A8CC-4E05-F087-67B70EEE72A6}"/>
              </a:ext>
            </a:extLst>
          </p:cNvPr>
          <p:cNvSpPr txBox="1"/>
          <p:nvPr/>
        </p:nvSpPr>
        <p:spPr>
          <a:xfrm>
            <a:off x="9448567" y="513014"/>
            <a:ext cx="9468464" cy="947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600" b="1" i="0" u="sng" dirty="0">
                <a:effectLst/>
                <a:latin typeface="-apple-system"/>
              </a:rPr>
              <a:t>Financial Projections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-apple-system"/>
              </a:rPr>
              <a:t>Path to Profitability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-apple-system"/>
              </a:rPr>
              <a:t>Year 1 Projections: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Revenue: $300,000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Customer Acquisition Cost: $15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Lifetime Value: $180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Gross Margin: 85%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Net Profit: $150,000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-apple-system"/>
              </a:rPr>
              <a:t>Year 3 Projections: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Revenue: $2.4 million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Monthly Active Users: 100,000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Market Share: 15% of East African digital farming market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Team Size: 25 employees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-apple-system"/>
              </a:rPr>
              <a:t>Funding Ask: $500,000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Product development: $200,000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Marketing &amp; user acquisition: $150,000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Operations &amp; team: $100,000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-apple-system"/>
              </a:rPr>
              <a:t>Working capital: $50,000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176755" y="2579698"/>
            <a:ext cx="11683751" cy="6678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1B415-D5FD-9308-4157-1832B9147DD7}"/>
              </a:ext>
            </a:extLst>
          </p:cNvPr>
          <p:cNvSpPr txBox="1"/>
          <p:nvPr/>
        </p:nvSpPr>
        <p:spPr>
          <a:xfrm>
            <a:off x="2176755" y="157519"/>
            <a:ext cx="10087896" cy="10095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3200" b="1" i="0" dirty="0">
                <a:solidFill>
                  <a:srgbClr val="7030A0"/>
                </a:solidFill>
                <a:effectLst/>
                <a:latin typeface="-apple-system"/>
              </a:rPr>
              <a:t> 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-apple-system"/>
              </a:rPr>
              <a:t>Risks &amp; Mitigation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solidFill>
                  <a:srgbClr val="7030A0"/>
                </a:solidFill>
                <a:effectLst/>
                <a:latin typeface="-apple-system"/>
              </a:rPr>
              <a:t>Addressing Key Challenges</a:t>
            </a:r>
            <a:endParaRPr lang="en-US" sz="32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solidFill>
                  <a:srgbClr val="7030A0"/>
                </a:solidFill>
                <a:effectLst/>
                <a:latin typeface="-apple-system"/>
              </a:rPr>
              <a:t>Technical Risks:</a:t>
            </a:r>
            <a:endParaRPr lang="en-US" sz="32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Algorithm accuracy → Continuous validation with field trials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Mobile connectivity → Offline-capable features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Data privacy → GDPR-compliant, local data storage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solidFill>
                  <a:srgbClr val="7030A0"/>
                </a:solidFill>
                <a:effectLst/>
                <a:latin typeface="-apple-system"/>
              </a:rPr>
              <a:t>Market Risks:</a:t>
            </a:r>
            <a:endParaRPr lang="en-US" sz="32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User adoption → Free tier + farmer education programs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Competition → First-mover advantage in Africa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Economic factors → Freemium model resilience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solidFill>
                  <a:srgbClr val="7030A0"/>
                </a:solidFill>
                <a:effectLst/>
                <a:latin typeface="-apple-system"/>
              </a:rPr>
              <a:t>Operational Risks:</a:t>
            </a:r>
            <a:endParaRPr lang="en-US" sz="3200" b="0" i="0" dirty="0">
              <a:solidFill>
                <a:srgbClr val="7030A0"/>
              </a:solidFill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Team scaling → Established hiring pipeline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Partnership reliability → Multiple backup partners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7030A0"/>
                </a:solidFill>
                <a:effectLst/>
                <a:latin typeface="-apple-system"/>
              </a:rPr>
              <a:t>Regulatory changes → Legal counsel &amp; compliance monitoring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C27B6B-9D9B-CC25-DFD3-EDCC353FA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57519"/>
            <a:ext cx="7543800" cy="101294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60EF381-9564-174D-EE51-71AFD950E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t="5619" r="4520" b="3924"/>
          <a:stretch>
            <a:fillRect/>
          </a:stretch>
        </p:blipFill>
        <p:spPr>
          <a:xfrm>
            <a:off x="1600200" y="851550"/>
            <a:ext cx="6599904" cy="85839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176755" y="2579698"/>
            <a:ext cx="11683751" cy="675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926898" y="-135210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24117-82AC-D2E4-67D9-AF89AB77AD6F}"/>
              </a:ext>
            </a:extLst>
          </p:cNvPr>
          <p:cNvSpPr txBox="1"/>
          <p:nvPr/>
        </p:nvSpPr>
        <p:spPr>
          <a:xfrm>
            <a:off x="8200104" y="479152"/>
            <a:ext cx="10087896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4000" b="1" i="0" u="sng" dirty="0">
                <a:effectLst/>
                <a:latin typeface="-apple-system"/>
              </a:rPr>
              <a:t>Vision &amp; Impact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effectLst/>
                <a:latin typeface="-apple-system"/>
              </a:rPr>
              <a:t>Transforming African Agriculture</a:t>
            </a:r>
            <a:endParaRPr lang="en-US" sz="3200" b="0" i="0" dirty="0"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effectLst/>
                <a:latin typeface="-apple-system"/>
              </a:rPr>
              <a:t>Our Vision:</a:t>
            </a:r>
            <a:r>
              <a:rPr lang="en-US" sz="3200" b="0" i="0" dirty="0">
                <a:effectLst/>
                <a:latin typeface="-apple-system"/>
              </a:rPr>
              <a:t> To become the leading digital agriculture platform in Africa, empowering 10 million farmers by 2030.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effectLst/>
                <a:latin typeface="-apple-system"/>
              </a:rPr>
              <a:t>Social Impact:</a:t>
            </a:r>
            <a:endParaRPr lang="en-US" sz="3200" b="0" i="0" dirty="0"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Increase farmer incomes</a:t>
            </a:r>
            <a:r>
              <a:rPr lang="en-US" sz="3200" b="0" i="0" dirty="0">
                <a:effectLst/>
                <a:latin typeface="-apple-system"/>
              </a:rPr>
              <a:t> by 30-50%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Reduce soil degradation</a:t>
            </a:r>
            <a:r>
              <a:rPr lang="en-US" sz="3200" b="0" i="0" dirty="0">
                <a:effectLst/>
                <a:latin typeface="-apple-system"/>
              </a:rPr>
              <a:t> through better management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Improve food security</a:t>
            </a:r>
            <a:r>
              <a:rPr lang="en-US" sz="3200" b="0" i="0" dirty="0">
                <a:effectLst/>
                <a:latin typeface="-apple-system"/>
              </a:rPr>
              <a:t> in vulnerable regions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Create 500+ jobs</a:t>
            </a:r>
            <a:r>
              <a:rPr lang="en-US" sz="3200" b="0" i="0" dirty="0">
                <a:effectLst/>
                <a:latin typeface="-apple-system"/>
              </a:rPr>
              <a:t> in </a:t>
            </a:r>
            <a:r>
              <a:rPr lang="en-US" sz="3200" b="0" i="0" dirty="0" err="1">
                <a:effectLst/>
                <a:latin typeface="-apple-system"/>
              </a:rPr>
              <a:t>agri</a:t>
            </a:r>
            <a:r>
              <a:rPr lang="en-US" sz="3200" b="0" i="0" dirty="0">
                <a:effectLst/>
                <a:latin typeface="-apple-system"/>
              </a:rPr>
              <a:t>-tech sector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3200" b="1" i="0" dirty="0">
                <a:effectLst/>
                <a:latin typeface="-apple-system"/>
              </a:rPr>
              <a:t>Environmental Impact:</a:t>
            </a:r>
            <a:endParaRPr lang="en-US" sz="3200" b="0" i="0" dirty="0">
              <a:effectLst/>
              <a:latin typeface="-apple-system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Sustainable farming practices</a:t>
            </a:r>
            <a:r>
              <a:rPr lang="en-US" sz="3200" b="0" i="0" dirty="0">
                <a:effectLst/>
                <a:latin typeface="-apple-system"/>
              </a:rPr>
              <a:t> adoption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Reduced chemical fertilizer use</a:t>
            </a:r>
            <a:r>
              <a:rPr lang="en-US" sz="3200" b="0" i="0" dirty="0">
                <a:effectLst/>
                <a:latin typeface="-apple-system"/>
              </a:rPr>
              <a:t> by 25%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Carbon sequestration</a:t>
            </a:r>
            <a:r>
              <a:rPr lang="en-US" sz="3200" b="0" i="0" dirty="0">
                <a:effectLst/>
                <a:latin typeface="-apple-system"/>
              </a:rPr>
              <a:t> through improved soil health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-apple-system"/>
              </a:rPr>
              <a:t>Water conservation</a:t>
            </a:r>
            <a:r>
              <a:rPr lang="en-US" sz="3200" b="0" i="0" dirty="0">
                <a:effectLst/>
                <a:latin typeface="-apple-system"/>
              </a:rPr>
              <a:t> through optimized irrigation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06702"/>
            <a:ext cx="1418084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sz="3600"/>
          </a:p>
        </p:txBody>
      </p:sp>
      <p:sp>
        <p:nvSpPr>
          <p:cNvPr id="3" name="TextBox 3"/>
          <p:cNvSpPr txBox="1"/>
          <p:nvPr/>
        </p:nvSpPr>
        <p:spPr>
          <a:xfrm>
            <a:off x="1028700" y="657822"/>
            <a:ext cx="6896736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sz="3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A23EA-0C5C-FA22-7143-7B82C215AA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592799" cy="10286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57822"/>
            <a:ext cx="8763000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1" u="sng" dirty="0"/>
              <a:t>Call to Action</a:t>
            </a:r>
          </a:p>
          <a:p>
            <a:r>
              <a:rPr lang="en-US" sz="4000" b="1" dirty="0"/>
              <a:t>Join Us in Revolutionizing Agriculture</a:t>
            </a:r>
            <a:endParaRPr lang="en-US" sz="4000" dirty="0"/>
          </a:p>
          <a:p>
            <a:r>
              <a:rPr lang="en-US" sz="4000" b="1" dirty="0"/>
              <a:t>Investment Opportunity:</a:t>
            </a:r>
            <a:endParaRPr lang="en-US" sz="4000" dirty="0"/>
          </a:p>
          <a:p>
            <a:r>
              <a:rPr lang="en-US" sz="4000" dirty="0"/>
              <a:t>$500,000 for 20% equity</a:t>
            </a:r>
          </a:p>
          <a:p>
            <a:r>
              <a:rPr lang="en-US" sz="4000" dirty="0"/>
              <a:t>Proven product-market fit</a:t>
            </a:r>
          </a:p>
          <a:p>
            <a:r>
              <a:rPr lang="en-US" sz="4000" dirty="0"/>
              <a:t>Scalable technology platform</a:t>
            </a:r>
          </a:p>
          <a:p>
            <a:r>
              <a:rPr lang="en-US" sz="4000" dirty="0"/>
              <a:t>Experienced founding team</a:t>
            </a:r>
          </a:p>
          <a:p>
            <a:r>
              <a:rPr lang="en-US" sz="4000" dirty="0"/>
              <a:t>Massive market opportunity</a:t>
            </a:r>
          </a:p>
          <a:p>
            <a:r>
              <a:rPr lang="en-US" sz="4000" b="1" dirty="0"/>
              <a:t>Next Steps:</a:t>
            </a:r>
            <a:endParaRPr lang="en-US" sz="4000" dirty="0"/>
          </a:p>
          <a:p>
            <a:r>
              <a:rPr lang="en-US" sz="4000" dirty="0"/>
              <a:t>Schedule technical demo</a:t>
            </a:r>
          </a:p>
          <a:p>
            <a:r>
              <a:rPr lang="en-US" sz="4000" dirty="0"/>
              <a:t>Field trial arrangements</a:t>
            </a:r>
          </a:p>
          <a:p>
            <a:r>
              <a:rPr lang="en-US" sz="4000" dirty="0"/>
              <a:t>Due diligence process</a:t>
            </a:r>
          </a:p>
          <a:p>
            <a:r>
              <a:rPr lang="en-US" sz="4000" dirty="0"/>
              <a:t>Partnership discussions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76755" y="419130"/>
            <a:ext cx="7315200" cy="95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Team</a:t>
            </a:r>
          </a:p>
          <a:p>
            <a:r>
              <a:rPr lang="en-US" sz="3200" b="1" u="sng" dirty="0"/>
              <a:t>Experienced Founders &amp; Advisors</a:t>
            </a:r>
            <a:endParaRPr lang="en-US" sz="3200" u="sng" dirty="0"/>
          </a:p>
          <a:p>
            <a:r>
              <a:rPr lang="en-US" sz="3200" b="1" dirty="0"/>
              <a:t>Rawllince Onyango Okello - CEO &amp; Founder</a:t>
            </a:r>
            <a:endParaRPr lang="en-US" sz="3200" dirty="0"/>
          </a:p>
          <a:p>
            <a:r>
              <a:rPr lang="en-US" sz="3200" dirty="0"/>
              <a:t>Agricultural Economics graduate</a:t>
            </a:r>
          </a:p>
          <a:p>
            <a:r>
              <a:rPr lang="en-US" sz="3200" dirty="0"/>
              <a:t>5+ years in </a:t>
            </a:r>
            <a:r>
              <a:rPr lang="en-US" sz="3200" dirty="0" err="1"/>
              <a:t>agri</a:t>
            </a:r>
            <a:r>
              <a:rPr lang="en-US" sz="3200" dirty="0"/>
              <a:t>-tech development</a:t>
            </a:r>
          </a:p>
          <a:p>
            <a:r>
              <a:rPr lang="en-US" sz="3200" dirty="0"/>
              <a:t>Former KALRO research assistant</a:t>
            </a:r>
          </a:p>
          <a:p>
            <a:r>
              <a:rPr lang="en-US" sz="3200" dirty="0"/>
              <a:t>Full-stack developer with React expertise</a:t>
            </a:r>
          </a:p>
          <a:p>
            <a:r>
              <a:rPr lang="en-US" sz="3200" b="1" dirty="0"/>
              <a:t>Advisory Board:</a:t>
            </a:r>
            <a:endParaRPr lang="en-US" sz="3200" dirty="0"/>
          </a:p>
          <a:p>
            <a:r>
              <a:rPr lang="en-US" sz="3200" dirty="0"/>
              <a:t>Dr. Sarah Wanjiku - Soil Science Expert, University of Nairobi</a:t>
            </a:r>
          </a:p>
          <a:p>
            <a:r>
              <a:rPr lang="en-US" sz="3200" dirty="0"/>
              <a:t>James Kiprop - Agricultural Extension Services Director</a:t>
            </a:r>
          </a:p>
          <a:p>
            <a:r>
              <a:rPr lang="en-US" sz="3200" dirty="0"/>
              <a:t>Maria Gonzalez - International Development Specialist</a:t>
            </a:r>
          </a:p>
          <a:p>
            <a:r>
              <a:rPr lang="en-US" sz="3200" b="1" dirty="0"/>
              <a:t>Development Team:</a:t>
            </a:r>
            <a:endParaRPr lang="en-US" sz="3200" dirty="0"/>
          </a:p>
          <a:p>
            <a:r>
              <a:rPr lang="en-US" sz="3200" dirty="0"/>
              <a:t>Frontend Developer (React/TypeScript)</a:t>
            </a:r>
          </a:p>
          <a:p>
            <a:r>
              <a:rPr lang="en-US" sz="3200" dirty="0"/>
              <a:t>Algorithm Specialist (Crop Science)</a:t>
            </a:r>
          </a:p>
          <a:p>
            <a:r>
              <a:rPr lang="en-US" sz="3200" dirty="0"/>
              <a:t>UX/UI Designer (Mobile-first focus)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FB54A86-B724-466D-84C2-FE62262C9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68" y="192908"/>
            <a:ext cx="9286875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044460" y="3830244"/>
            <a:ext cx="12244951" cy="6173151"/>
            <a:chOff x="0" y="285750"/>
            <a:chExt cx="16326601" cy="8230866"/>
          </a:xfrm>
        </p:grpSpPr>
        <p:sp>
          <p:nvSpPr>
            <p:cNvPr id="4" name="TextBox 4"/>
            <p:cNvSpPr txBox="1"/>
            <p:nvPr/>
          </p:nvSpPr>
          <p:spPr>
            <a:xfrm>
              <a:off x="0" y="285750"/>
              <a:ext cx="13598772" cy="2762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en-US" sz="15000" b="1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Thank you!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07525" y="3643488"/>
              <a:ext cx="13219076" cy="48731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4000" b="1" dirty="0"/>
                <a:t>Email:</a:t>
              </a:r>
              <a:r>
                <a:rPr lang="en-US" sz="4000" dirty="0"/>
                <a:t> </a:t>
              </a:r>
              <a:r>
                <a:rPr lang="en-US" sz="4000" u="sng" dirty="0">
                  <a:hlinkClick r:id="rId2"/>
                </a:rPr>
                <a:t>rawllincecj@gmail.com</a:t>
              </a:r>
              <a:endParaRPr lang="en-US" sz="4000" dirty="0"/>
            </a:p>
            <a:p>
              <a:r>
                <a:rPr lang="en-US" sz="4000" b="1" dirty="0"/>
                <a:t>Phone:</a:t>
              </a:r>
              <a:r>
                <a:rPr lang="en-US" sz="4000" dirty="0"/>
                <a:t> +254 726 737 491</a:t>
              </a:r>
            </a:p>
            <a:p>
              <a:r>
                <a:rPr lang="en-US" sz="4000" b="1" dirty="0"/>
                <a:t>Website:</a:t>
              </a:r>
              <a:r>
                <a:rPr lang="en-US" sz="4000" dirty="0"/>
                <a:t> </a:t>
              </a:r>
              <a:r>
                <a:rPr lang="en-US" sz="4000" u="sng" dirty="0">
                  <a:hlinkClick r:id="rId3"/>
                </a:rPr>
                <a:t>https://farmer-scheatsheet.vercel.app/</a:t>
              </a:r>
              <a:endParaRPr lang="en-US" sz="4000" dirty="0"/>
            </a:p>
            <a:p>
              <a:r>
                <a:rPr lang="en-US" sz="4000" b="1" dirty="0"/>
                <a:t>Demo:</a:t>
              </a:r>
              <a:r>
                <a:rPr lang="en-US" sz="4000" dirty="0"/>
                <a:t> Available upon request</a:t>
              </a:r>
            </a:p>
            <a:p>
              <a:pPr algn="ctr">
                <a:lnSpc>
                  <a:spcPts val="4479"/>
                </a:lnSpc>
              </a:pPr>
              <a:endParaRPr lang="en-US" sz="54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4892730" y="1028700"/>
            <a:ext cx="2793363" cy="1396681"/>
          </a:xfrm>
          <a:custGeom>
            <a:avLst/>
            <a:gdLst/>
            <a:ahLst/>
            <a:cxnLst/>
            <a:rect l="l" t="t" r="r" b="b"/>
            <a:pathLst>
              <a:path w="2793363" h="1396681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825260" y="6798102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974</Words>
  <Application>Microsoft Office PowerPoint</Application>
  <PresentationFormat>Custom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Barlow Medium Italics</vt:lpstr>
      <vt:lpstr>Times New Roman</vt:lpstr>
      <vt:lpstr>Barlow Semi-Bold</vt:lpstr>
      <vt:lpstr>Calibri</vt:lpstr>
      <vt:lpstr>Arial</vt:lpstr>
      <vt:lpstr>Barlow Medium</vt:lpstr>
      <vt:lpstr>-apple-system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PLP Standard Pitch Deck Template</dc:title>
  <dc:creator>Mr. Rawllince</dc:creator>
  <cp:lastModifiedBy>rawllince onyango</cp:lastModifiedBy>
  <cp:revision>7</cp:revision>
  <dcterms:created xsi:type="dcterms:W3CDTF">2006-08-16T00:00:00Z</dcterms:created>
  <dcterms:modified xsi:type="dcterms:W3CDTF">2025-11-13T13:14:58Z</dcterms:modified>
  <dc:identifier>DAG4jasj0Og</dc:identifier>
</cp:coreProperties>
</file>